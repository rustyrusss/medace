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ussar Bold" charset="1" panose="00000800000000000000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1416943" y="-64883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0084" y="2988149"/>
            <a:ext cx="7037171" cy="7803315"/>
          </a:xfrm>
          <a:custGeom>
            <a:avLst/>
            <a:gdLst/>
            <a:ahLst/>
            <a:cxnLst/>
            <a:rect r="r" b="b" t="t" l="l"/>
            <a:pathLst>
              <a:path h="7803315" w="7037171">
                <a:moveTo>
                  <a:pt x="0" y="0"/>
                </a:moveTo>
                <a:lnTo>
                  <a:pt x="7037172" y="0"/>
                </a:lnTo>
                <a:lnTo>
                  <a:pt x="7037172" y="7803315"/>
                </a:lnTo>
                <a:lnTo>
                  <a:pt x="0" y="780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14189117" y="8110866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6" y="0"/>
                </a:lnTo>
                <a:lnTo>
                  <a:pt x="8197766" y="4352268"/>
                </a:lnTo>
                <a:lnTo>
                  <a:pt x="0" y="435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991315">
            <a:off x="-509632" y="1564175"/>
            <a:ext cx="2188739" cy="2427029"/>
          </a:xfrm>
          <a:custGeom>
            <a:avLst/>
            <a:gdLst/>
            <a:ahLst/>
            <a:cxnLst/>
            <a:rect r="r" b="b" t="t" l="l"/>
            <a:pathLst>
              <a:path h="2427029" w="2188739">
                <a:moveTo>
                  <a:pt x="0" y="0"/>
                </a:moveTo>
                <a:lnTo>
                  <a:pt x="2188738" y="0"/>
                </a:lnTo>
                <a:lnTo>
                  <a:pt x="2188738" y="2427028"/>
                </a:lnTo>
                <a:lnTo>
                  <a:pt x="0" y="242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354877"/>
            <a:ext cx="4095911" cy="4095911"/>
          </a:xfrm>
          <a:custGeom>
            <a:avLst/>
            <a:gdLst/>
            <a:ahLst/>
            <a:cxnLst/>
            <a:rect r="r" b="b" t="t" l="l"/>
            <a:pathLst>
              <a:path h="4095911" w="4095911">
                <a:moveTo>
                  <a:pt x="0" y="0"/>
                </a:moveTo>
                <a:lnTo>
                  <a:pt x="4095911" y="0"/>
                </a:lnTo>
                <a:lnTo>
                  <a:pt x="4095911" y="4095911"/>
                </a:lnTo>
                <a:lnTo>
                  <a:pt x="0" y="4095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61170" y="8453513"/>
            <a:ext cx="2717344" cy="2737251"/>
          </a:xfrm>
          <a:custGeom>
            <a:avLst/>
            <a:gdLst/>
            <a:ahLst/>
            <a:cxnLst/>
            <a:rect r="r" b="b" t="t" l="l"/>
            <a:pathLst>
              <a:path h="2737251" w="2717344">
                <a:moveTo>
                  <a:pt x="0" y="0"/>
                </a:moveTo>
                <a:lnTo>
                  <a:pt x="2717344" y="0"/>
                </a:lnTo>
                <a:lnTo>
                  <a:pt x="2717344" y="2737252"/>
                </a:lnTo>
                <a:lnTo>
                  <a:pt x="0" y="2737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32803" y="2375547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81940" y="2111251"/>
            <a:ext cx="3822509" cy="3822509"/>
          </a:xfrm>
          <a:custGeom>
            <a:avLst/>
            <a:gdLst/>
            <a:ahLst/>
            <a:cxnLst/>
            <a:rect r="r" b="b" t="t" l="l"/>
            <a:pathLst>
              <a:path h="3822509" w="3822509">
                <a:moveTo>
                  <a:pt x="0" y="0"/>
                </a:moveTo>
                <a:lnTo>
                  <a:pt x="3822509" y="0"/>
                </a:lnTo>
                <a:lnTo>
                  <a:pt x="3822509" y="3822509"/>
                </a:lnTo>
                <a:lnTo>
                  <a:pt x="0" y="3822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14240" y="2006476"/>
            <a:ext cx="11573760" cy="414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>
                <a:solidFill>
                  <a:srgbClr val="00A8A8"/>
                </a:solidFill>
                <a:latin typeface="Hussar Bold"/>
                <a:ea typeface="Hussar Bold"/>
                <a:cs typeface="Hussar Bold"/>
                <a:sym typeface="Hussar Bold"/>
              </a:rPr>
              <a:t>MedAce: A Smart Web-Based  Review and Progress Tracker for Allied Health Licensure Exams: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77779" y="6358061"/>
            <a:ext cx="10674959" cy="330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Presented to: Faculty of Information Technology and Research Department, World Citi Colleges – Quezon City</a:t>
            </a:r>
          </a:p>
          <a:p>
            <a:pPr algn="l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July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2481" y="671741"/>
            <a:ext cx="12361771" cy="2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8"/>
              </a:lnSpc>
            </a:pPr>
            <a:r>
              <a:rPr lang="en-US" sz="747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GROUP MEMBERS AND THEIR ROLES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37728" y="3704701"/>
            <a:ext cx="13259384" cy="555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6"/>
              </a:lnSpc>
            </a:pPr>
            <a:r>
              <a:rPr lang="en-US" sz="39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ARCAYERA, ALLAIN LOUIS | DATABASE</a:t>
            </a:r>
          </a:p>
          <a:p>
            <a:pPr algn="ctr">
              <a:lnSpc>
                <a:spcPts val="5466"/>
              </a:lnSpc>
            </a:pPr>
            <a:r>
              <a:rPr lang="en-US" sz="39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AUSTRIA, MAVERICK RUSSELL | DOCUMENTATION &amp; RESEARCH</a:t>
            </a:r>
          </a:p>
          <a:p>
            <a:pPr algn="ctr">
              <a:lnSpc>
                <a:spcPts val="5466"/>
              </a:lnSpc>
            </a:pPr>
            <a:r>
              <a:rPr lang="en-US" sz="39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COPRADO, JUSTIN | WEB DEVELOPER</a:t>
            </a:r>
          </a:p>
          <a:p>
            <a:pPr algn="ctr">
              <a:lnSpc>
                <a:spcPts val="5466"/>
              </a:lnSpc>
            </a:pPr>
            <a:r>
              <a:rPr lang="en-US" sz="39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DELA CRUZ, MARIAH KRISHTEL J. | FRONTEND DEVELOPER</a:t>
            </a:r>
          </a:p>
          <a:p>
            <a:pPr algn="ctr">
              <a:lnSpc>
                <a:spcPts val="5466"/>
              </a:lnSpc>
            </a:pPr>
            <a:r>
              <a:rPr lang="en-US" sz="39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SANTOS, RUSSEL JERARD | FRONTEND DEVELOPER</a:t>
            </a:r>
          </a:p>
          <a:p>
            <a:pPr algn="ctr">
              <a:lnSpc>
                <a:spcPts val="602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2481" y="536281"/>
            <a:ext cx="12361771" cy="111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8"/>
              </a:lnSpc>
            </a:pPr>
            <a:r>
              <a:rPr lang="en-US" sz="657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BITS VISION AND MISSION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5812" y="2055715"/>
            <a:ext cx="12496869" cy="337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VISION STATEMENT</a:t>
            </a:r>
          </a:p>
          <a:p>
            <a:pPr algn="ctr">
              <a:lnSpc>
                <a:spcPts val="4486"/>
              </a:lnSpc>
            </a:pPr>
          </a:p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College of Information Technology Education (CITE) envisions itself to become a center of excellence that produces globally competitive, self-righteous, expert and innovative ITE professionals.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79472" y="5961329"/>
            <a:ext cx="11224648" cy="393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MISSION STATEMENT</a:t>
            </a:r>
          </a:p>
          <a:p>
            <a:pPr algn="ctr">
              <a:lnSpc>
                <a:spcPts val="4486"/>
              </a:lnSpc>
            </a:pPr>
          </a:p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College of Information Technology Education is committed to produce globally competitive graduates that are responsive to the industry needs locally and internationally, God-fearing, and can deliver and do research which are original, innovative and relevant.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2481" y="525934"/>
            <a:ext cx="12361771" cy="143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17"/>
              </a:lnSpc>
            </a:pPr>
            <a:r>
              <a:rPr lang="en-US" sz="83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AREA OF THE STUDY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97348" y="1962477"/>
            <a:ext cx="12731564" cy="799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7" indent="-388618" lvl="1">
              <a:lnSpc>
                <a:spcPts val="5291"/>
              </a:lnSpc>
              <a:buFont typeface="Arial"/>
              <a:buChar char="•"/>
            </a:pP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This study integrates the following Inf</a:t>
            </a: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ormation Technology fields:</a:t>
            </a:r>
          </a:p>
          <a:p>
            <a:pPr algn="just" marL="1554474" indent="-518158" lvl="2">
              <a:lnSpc>
                <a:spcPts val="5291"/>
              </a:lnSpc>
              <a:buFont typeface="Arial"/>
              <a:buChar char="⚬"/>
            </a:pP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Educational Technology: Utilizes digital tools to support nursing instruction.</a:t>
            </a:r>
          </a:p>
          <a:p>
            <a:pPr algn="just" marL="1554474" indent="-518158" lvl="2">
              <a:lnSpc>
                <a:spcPts val="5291"/>
              </a:lnSpc>
              <a:buFont typeface="Arial"/>
              <a:buChar char="⚬"/>
            </a:pP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</a:t>
            </a: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ademic Performance Monitoring: </a:t>
            </a: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Tracks students’ progress and exam readiness.</a:t>
            </a:r>
          </a:p>
          <a:p>
            <a:pPr algn="just" marL="1554474" indent="-518158" lvl="2">
              <a:lnSpc>
                <a:spcPts val="5291"/>
              </a:lnSpc>
              <a:buFont typeface="Arial"/>
              <a:buChar char="⚬"/>
            </a:pP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Online Review Systems: Provides mock exams and quizzes aligned to the curriculum.</a:t>
            </a:r>
          </a:p>
          <a:p>
            <a:pPr algn="just" marL="1554474" indent="-518158" lvl="2">
              <a:lnSpc>
                <a:spcPts val="5291"/>
              </a:lnSpc>
              <a:buFont typeface="Arial"/>
              <a:buChar char="⚬"/>
            </a:pPr>
            <a:r>
              <a:rPr lang="en-US" b="true" sz="3599" spc="2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Nursing Education: Focused on supporting nursing students’ academic needs.</a:t>
            </a:r>
          </a:p>
          <a:p>
            <a:pPr algn="just">
              <a:lnSpc>
                <a:spcPts val="529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56092" y="537922"/>
            <a:ext cx="14575816" cy="2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8"/>
              </a:lnSpc>
            </a:pPr>
            <a:r>
              <a:rPr lang="en-US" sz="747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BACKGROUND OF THE STUDY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97414" y="3219561"/>
            <a:ext cx="12318624" cy="7067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005" indent="-367503" lvl="1">
              <a:lnSpc>
                <a:spcPts val="4766"/>
              </a:lnSpc>
              <a:buFont typeface="Arial"/>
              <a:buChar char="•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All</a:t>
            </a: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ied health students face major barriers when preparing for licensure exams:</a:t>
            </a:r>
          </a:p>
          <a:p>
            <a:pPr algn="just" marL="1470010" indent="-490003" lvl="2">
              <a:lnSpc>
                <a:spcPts val="4766"/>
              </a:lnSpc>
              <a:buFont typeface="Arial"/>
              <a:buChar char="⚬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Exam anxiety, poor time management, content overload</a:t>
            </a:r>
          </a:p>
          <a:p>
            <a:pPr algn="just" marL="1470010" indent="-490003" lvl="2">
              <a:lnSpc>
                <a:spcPts val="4766"/>
              </a:lnSpc>
              <a:buFont typeface="Arial"/>
              <a:buChar char="⚬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Inconsistent study methods and outdated materials</a:t>
            </a:r>
          </a:p>
          <a:p>
            <a:pPr algn="just" marL="1470010" indent="-490003" lvl="2">
              <a:lnSpc>
                <a:spcPts val="4766"/>
              </a:lnSpc>
              <a:buFont typeface="Arial"/>
              <a:buChar char="⚬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Lack of critical thinking training for board-style MCQs</a:t>
            </a:r>
          </a:p>
          <a:p>
            <a:pPr algn="just" marL="1470010" indent="-490003" lvl="2">
              <a:lnSpc>
                <a:spcPts val="4766"/>
              </a:lnSpc>
              <a:buFont typeface="Arial"/>
              <a:buChar char="⚬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Limited structured review programs</a:t>
            </a:r>
          </a:p>
          <a:p>
            <a:pPr algn="just" marL="735005" indent="-367503" lvl="1">
              <a:lnSpc>
                <a:spcPts val="4766"/>
              </a:lnSpc>
              <a:buFont typeface="Arial"/>
              <a:buChar char="•"/>
            </a:pPr>
            <a:r>
              <a:rPr lang="en-US" b="true" sz="3404" spc="5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These problems reduce academic readiness and increase exam pressure.</a:t>
            </a:r>
          </a:p>
          <a:p>
            <a:pPr algn="just">
              <a:lnSpc>
                <a:spcPts val="364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56092" y="537922"/>
            <a:ext cx="14575816" cy="2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8"/>
              </a:lnSpc>
            </a:pPr>
            <a:r>
              <a:rPr lang="en-US" sz="7470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BACKGROUND OF THE STUDY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5196" y="3359971"/>
            <a:ext cx="12318624" cy="540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</a:t>
            </a: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hools often cannot offer personal coaching due to faculty workloads.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</a:t>
            </a: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ny students rely on informal, non-standardized materials like social media threads.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Despite growing digital tools, students lack access to structured, localized, and adaptive review systems.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1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Gaps in both individual and institutional support highlight the need for a centralized platform.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6479" y="389881"/>
            <a:ext cx="14575816" cy="276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7"/>
              </a:lnSpc>
            </a:pPr>
            <a:r>
              <a:rPr lang="en-US" sz="79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KEY CHALLENGES IN NURSING EDUCATION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26393" y="3449431"/>
            <a:ext cx="12495987" cy="580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PN</a:t>
            </a: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 weak points: Maladaptive Behaviors, Psychiatric Nursing, Fluid &amp; Electrolyte Balance</a:t>
            </a:r>
          </a:p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Students struggle in high-cognitive areas despite doing well in foundational subjects.</a:t>
            </a:r>
          </a:p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Lack of focused review, remedial instruction, and feedback limits performance.</a:t>
            </a:r>
          </a:p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Academic support must be restructured to meet discipline-specific weaknesses.</a:t>
            </a:r>
          </a:p>
          <a:p>
            <a:pPr algn="just">
              <a:lnSpc>
                <a:spcPts val="560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3155" y="386955"/>
            <a:ext cx="14575816" cy="305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7"/>
              </a:lnSpc>
            </a:pPr>
            <a:r>
              <a:rPr lang="en-US" sz="87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RESEARCH GAP / PROBLEM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4549" y="3596936"/>
            <a:ext cx="12505304" cy="652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1826" indent="-345913" lvl="1">
              <a:lnSpc>
                <a:spcPts val="4486"/>
              </a:lnSpc>
              <a:buFont typeface="Arial"/>
              <a:buChar char="•"/>
            </a:pPr>
            <a:r>
              <a:rPr lang="en-US" b="true" sz="32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b="true" sz="32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espite the existence of review tools and centers, students face:</a:t>
            </a:r>
          </a:p>
          <a:p>
            <a:pPr algn="just" marL="1383652" indent="-461217" lvl="2">
              <a:lnSpc>
                <a:spcPts val="4486"/>
              </a:lnSpc>
              <a:buFont typeface="Arial"/>
              <a:buChar char="⚬"/>
            </a:pPr>
            <a:r>
              <a:rPr lang="en-US" b="true" sz="32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Expensive, scattered, or irrelevant study materials</a:t>
            </a:r>
          </a:p>
          <a:p>
            <a:pPr algn="just" marL="1383652" indent="-461217" lvl="2">
              <a:lnSpc>
                <a:spcPts val="4486"/>
              </a:lnSpc>
              <a:buFont typeface="Arial"/>
              <a:buChar char="⚬"/>
            </a:pPr>
            <a:r>
              <a:rPr lang="en-US" b="true" sz="32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 clear tracking of progress or personalized feedback</a:t>
            </a:r>
          </a:p>
          <a:p>
            <a:pPr algn="just" marL="1383652" indent="-461217" lvl="2">
              <a:lnSpc>
                <a:spcPts val="4486"/>
              </a:lnSpc>
              <a:buFont typeface="Arial"/>
              <a:buChar char="⚬"/>
            </a:pPr>
            <a:r>
              <a:rPr lang="en-US" b="true" sz="32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Tools that are generic or focused on international content</a:t>
            </a:r>
          </a:p>
          <a:p>
            <a:pPr algn="just" marL="670237" indent="-335118" lvl="1">
              <a:lnSpc>
                <a:spcPts val="4346"/>
              </a:lnSpc>
              <a:buFont typeface="Arial"/>
              <a:buChar char="•"/>
            </a:pPr>
            <a:r>
              <a:rPr lang="en-US" b="true" sz="31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Technology and education gap: There is no centralized, locally-relevant, and adaptive review system aligned with PRC formats.</a:t>
            </a:r>
          </a:p>
          <a:p>
            <a:pPr algn="just" marL="670237" indent="-335118" lvl="1">
              <a:lnSpc>
                <a:spcPts val="4346"/>
              </a:lnSpc>
              <a:buFont typeface="Arial"/>
              <a:buChar char="•"/>
            </a:pPr>
            <a:r>
              <a:rPr lang="en-US" b="true" sz="31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Students need tools to boost confidence, structure, and exam readiness.</a:t>
            </a:r>
          </a:p>
          <a:p>
            <a:pPr algn="just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63251" y="584480"/>
            <a:ext cx="12961497" cy="219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9"/>
              </a:lnSpc>
            </a:pPr>
            <a:r>
              <a:rPr lang="en-US" sz="6278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PROPOSED SOLUTION - MEDACE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93761" y="3078937"/>
            <a:ext cx="12455283" cy="752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MedAc</a:t>
            </a: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 is a smart web-based platform for board exam review and analytics.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It focuses on these disciplines:</a:t>
            </a:r>
          </a:p>
          <a:p>
            <a:pPr algn="just" marL="1468112" indent="-489371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Nursing, Medical Technology, Psychology, Physical Therapy, Radiologic Tech, Nutrition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Core Features:</a:t>
            </a:r>
          </a:p>
          <a:p>
            <a:pPr algn="just" marL="1468112" indent="-489371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Mock exams per subject with feedback and analytics</a:t>
            </a:r>
          </a:p>
          <a:p>
            <a:pPr algn="just" marL="1468112" indent="-489371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testing and learning recommendations</a:t>
            </a:r>
          </a:p>
          <a:p>
            <a:pPr algn="just" marL="1468112" indent="-489371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Simulated PRC-style exams and dynamic dashboards</a:t>
            </a:r>
          </a:p>
          <a:p>
            <a:pPr algn="just" marL="1468112" indent="-489371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Mentor access for progress monitoring</a:t>
            </a:r>
          </a:p>
          <a:p>
            <a:pPr algn="just">
              <a:lnSpc>
                <a:spcPts val="3646"/>
              </a:lnSpc>
            </a:pPr>
          </a:p>
          <a:p>
            <a:pPr algn="just">
              <a:lnSpc>
                <a:spcPts val="364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6054" y="351988"/>
            <a:ext cx="14735892" cy="323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77"/>
              </a:lnSpc>
            </a:pPr>
            <a:r>
              <a:rPr lang="en-US" sz="92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SYSTEM CAPABILITIES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44880" y="4066539"/>
            <a:ext cx="13567066" cy="486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Subject-sp</a:t>
            </a: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ecific content for allied health courses</a:t>
            </a:r>
          </a:p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Visual analytics on performance and study trends</a:t>
            </a:r>
          </a:p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Personalized quiz paths based on weaknesses</a:t>
            </a:r>
          </a:p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tracker that evolves with user progress</a:t>
            </a:r>
          </a:p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Local content only: Fully aligned with Philippine licensure standards</a:t>
            </a:r>
          </a:p>
          <a:p>
            <a:pPr algn="just" marL="756595" indent="-378297" lvl="1">
              <a:lnSpc>
                <a:spcPts val="4906"/>
              </a:lnSpc>
              <a:buFont typeface="Arial"/>
              <a:buChar char="•"/>
            </a:pPr>
            <a:r>
              <a:rPr lang="en-US" b="true" sz="35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Mentor interface for guided support</a:t>
            </a:r>
          </a:p>
          <a:p>
            <a:pPr algn="just">
              <a:lnSpc>
                <a:spcPts val="406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6054" y="617089"/>
            <a:ext cx="14735892" cy="175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7"/>
              </a:lnSpc>
            </a:pPr>
            <a:r>
              <a:rPr lang="en-US" sz="102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BENEFICIARIES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77689" y="3005696"/>
            <a:ext cx="13259384" cy="574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rimary: WCC Allied Health 4th-year students and board exam reviewees</a:t>
            </a:r>
          </a:p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Secondary: Educators needing insight into student progress</a:t>
            </a:r>
          </a:p>
          <a:p>
            <a:pPr algn="just" marL="778184" indent="-389092" lvl="1">
              <a:lnSpc>
                <a:spcPts val="5046"/>
              </a:lnSpc>
              <a:buFont typeface="Arial"/>
              <a:buChar char="•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Benefits:</a:t>
            </a:r>
          </a:p>
          <a:p>
            <a:pPr algn="just" marL="1556368" indent="-518789" lvl="2">
              <a:lnSpc>
                <a:spcPts val="5046"/>
              </a:lnSpc>
              <a:buFont typeface="Arial"/>
              <a:buChar char="⚬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Improved academic readiness</a:t>
            </a:r>
          </a:p>
          <a:p>
            <a:pPr algn="just" marL="1556368" indent="-518789" lvl="2">
              <a:lnSpc>
                <a:spcPts val="5046"/>
              </a:lnSpc>
              <a:buFont typeface="Arial"/>
              <a:buChar char="⚬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Increased motivation and reduced anxiety</a:t>
            </a:r>
          </a:p>
          <a:p>
            <a:pPr algn="just" marL="1556368" indent="-518789" lvl="2">
              <a:lnSpc>
                <a:spcPts val="5046"/>
              </a:lnSpc>
              <a:buFont typeface="Arial"/>
              <a:buChar char="⚬"/>
            </a:pPr>
            <a:r>
              <a:rPr lang="en-US" b="true" sz="36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Better exam outcomes and employability</a:t>
            </a:r>
          </a:p>
          <a:p>
            <a:pPr algn="just">
              <a:lnSpc>
                <a:spcPts val="504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5714567" y="449034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178" y="6666480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7713590" y="9558565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7" y="0"/>
                </a:lnTo>
                <a:lnTo>
                  <a:pt x="8197767" y="4352269"/>
                </a:lnTo>
                <a:lnTo>
                  <a:pt x="0" y="43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112" y="8150499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6517" y="9076226"/>
            <a:ext cx="1210774" cy="1210774"/>
          </a:xfrm>
          <a:custGeom>
            <a:avLst/>
            <a:gdLst/>
            <a:ahLst/>
            <a:cxnLst/>
            <a:rect r="r" b="b" t="t" l="l"/>
            <a:pathLst>
              <a:path h="1210774" w="1210774">
                <a:moveTo>
                  <a:pt x="0" y="0"/>
                </a:moveTo>
                <a:lnTo>
                  <a:pt x="1210774" y="0"/>
                </a:lnTo>
                <a:lnTo>
                  <a:pt x="1210774" y="1210774"/>
                </a:lnTo>
                <a:lnTo>
                  <a:pt x="0" y="1210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551" y="8150499"/>
            <a:ext cx="1544928" cy="1556246"/>
          </a:xfrm>
          <a:custGeom>
            <a:avLst/>
            <a:gdLst/>
            <a:ahLst/>
            <a:cxnLst/>
            <a:rect r="r" b="b" t="t" l="l"/>
            <a:pathLst>
              <a:path h="1556246" w="1544928">
                <a:moveTo>
                  <a:pt x="0" y="0"/>
                </a:moveTo>
                <a:lnTo>
                  <a:pt x="1544928" y="0"/>
                </a:lnTo>
                <a:lnTo>
                  <a:pt x="1544928" y="1556247"/>
                </a:lnTo>
                <a:lnTo>
                  <a:pt x="0" y="155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20289" y="-943898"/>
            <a:ext cx="3497978" cy="3497978"/>
          </a:xfrm>
          <a:custGeom>
            <a:avLst/>
            <a:gdLst/>
            <a:ahLst/>
            <a:cxnLst/>
            <a:rect r="r" b="b" t="t" l="l"/>
            <a:pathLst>
              <a:path h="3497978" w="3497978">
                <a:moveTo>
                  <a:pt x="0" y="0"/>
                </a:moveTo>
                <a:lnTo>
                  <a:pt x="3497978" y="0"/>
                </a:lnTo>
                <a:lnTo>
                  <a:pt x="349797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2481" y="586016"/>
            <a:ext cx="12361771" cy="194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6"/>
              </a:lnSpc>
            </a:pPr>
            <a:r>
              <a:rPr lang="en-US" sz="1136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REFERENCES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01564" y="113405"/>
            <a:ext cx="4080083" cy="4524285"/>
          </a:xfrm>
          <a:custGeom>
            <a:avLst/>
            <a:gdLst/>
            <a:ahLst/>
            <a:cxnLst/>
            <a:rect r="r" b="b" t="t" l="l"/>
            <a:pathLst>
              <a:path h="4524285" w="4080083">
                <a:moveTo>
                  <a:pt x="0" y="0"/>
                </a:moveTo>
                <a:lnTo>
                  <a:pt x="4080082" y="0"/>
                </a:lnTo>
                <a:lnTo>
                  <a:pt x="4080082" y="4524285"/>
                </a:lnTo>
                <a:lnTo>
                  <a:pt x="0" y="452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60973" y="3104265"/>
            <a:ext cx="12804787" cy="504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9310" indent="-464655" lvl="1">
              <a:lnSpc>
                <a:spcPts val="6026"/>
              </a:lnSpc>
              <a:buFont typeface="Arial"/>
              <a:buChar char="•"/>
            </a:pPr>
            <a:r>
              <a:rPr lang="en-US" b="true" sz="43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Salv</a:t>
            </a:r>
            <a:r>
              <a:rPr lang="en-US" b="true" sz="43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osa &amp; Malijan (2023), Enoc et al., Gaa et al.</a:t>
            </a:r>
          </a:p>
          <a:p>
            <a:pPr algn="just" marL="929310" indent="-464655" lvl="1">
              <a:lnSpc>
                <a:spcPts val="6026"/>
              </a:lnSpc>
              <a:buFont typeface="Arial"/>
              <a:buChar char="•"/>
            </a:pPr>
            <a:r>
              <a:rPr lang="en-US" b="true" sz="43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Standard Insights (2023), Abdusamed &amp; Beshir (2023)</a:t>
            </a:r>
          </a:p>
          <a:p>
            <a:pPr algn="just" marL="929310" indent="-464655" lvl="1">
              <a:lnSpc>
                <a:spcPts val="6026"/>
              </a:lnSpc>
              <a:buFont typeface="Arial"/>
              <a:buChar char="•"/>
            </a:pPr>
            <a:r>
              <a:rPr lang="en-US" b="true" sz="43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1NURSE (2023), Course Hero Review Docs</a:t>
            </a:r>
          </a:p>
          <a:p>
            <a:pPr algn="just" marL="929310" indent="-464655" lvl="1">
              <a:lnSpc>
                <a:spcPts val="6026"/>
              </a:lnSpc>
              <a:buFont typeface="Arial"/>
              <a:buChar char="•"/>
            </a:pPr>
            <a:r>
              <a:rPr lang="en-US" b="true" sz="430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IRJMS Multidisciplinary Scope (2025)</a:t>
            </a:r>
          </a:p>
          <a:p>
            <a:pPr algn="just">
              <a:lnSpc>
                <a:spcPts val="364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423411">
            <a:off x="-1416943" y="-64883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8197766" y="0"/>
                </a:moveTo>
                <a:lnTo>
                  <a:pt x="0" y="0"/>
                </a:lnTo>
                <a:lnTo>
                  <a:pt x="0" y="4352269"/>
                </a:lnTo>
                <a:lnTo>
                  <a:pt x="8197766" y="4352269"/>
                </a:lnTo>
                <a:lnTo>
                  <a:pt x="819776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0084" y="2988149"/>
            <a:ext cx="7037171" cy="7803315"/>
          </a:xfrm>
          <a:custGeom>
            <a:avLst/>
            <a:gdLst/>
            <a:ahLst/>
            <a:cxnLst/>
            <a:rect r="r" b="b" t="t" l="l"/>
            <a:pathLst>
              <a:path h="7803315" w="7037171">
                <a:moveTo>
                  <a:pt x="0" y="0"/>
                </a:moveTo>
                <a:lnTo>
                  <a:pt x="7037172" y="0"/>
                </a:lnTo>
                <a:lnTo>
                  <a:pt x="7037172" y="7803315"/>
                </a:lnTo>
                <a:lnTo>
                  <a:pt x="0" y="780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49044" y="-720289"/>
            <a:ext cx="3472538" cy="3497978"/>
          </a:xfrm>
          <a:custGeom>
            <a:avLst/>
            <a:gdLst/>
            <a:ahLst/>
            <a:cxnLst/>
            <a:rect r="r" b="b" t="t" l="l"/>
            <a:pathLst>
              <a:path h="3497978" w="3472538">
                <a:moveTo>
                  <a:pt x="0" y="0"/>
                </a:moveTo>
                <a:lnTo>
                  <a:pt x="3472538" y="0"/>
                </a:lnTo>
                <a:lnTo>
                  <a:pt x="3472538" y="3497978"/>
                </a:lnTo>
                <a:lnTo>
                  <a:pt x="0" y="349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47196">
            <a:off x="14189117" y="8110866"/>
            <a:ext cx="8197766" cy="4352269"/>
          </a:xfrm>
          <a:custGeom>
            <a:avLst/>
            <a:gdLst/>
            <a:ahLst/>
            <a:cxnLst/>
            <a:rect r="r" b="b" t="t" l="l"/>
            <a:pathLst>
              <a:path h="4352269" w="8197766">
                <a:moveTo>
                  <a:pt x="0" y="0"/>
                </a:moveTo>
                <a:lnTo>
                  <a:pt x="8197766" y="0"/>
                </a:lnTo>
                <a:lnTo>
                  <a:pt x="8197766" y="4352268"/>
                </a:lnTo>
                <a:lnTo>
                  <a:pt x="0" y="435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991315">
            <a:off x="-509632" y="1564175"/>
            <a:ext cx="2188739" cy="2427029"/>
          </a:xfrm>
          <a:custGeom>
            <a:avLst/>
            <a:gdLst/>
            <a:ahLst/>
            <a:cxnLst/>
            <a:rect r="r" b="b" t="t" l="l"/>
            <a:pathLst>
              <a:path h="2427029" w="2188739">
                <a:moveTo>
                  <a:pt x="0" y="0"/>
                </a:moveTo>
                <a:lnTo>
                  <a:pt x="2188738" y="0"/>
                </a:lnTo>
                <a:lnTo>
                  <a:pt x="2188738" y="2427028"/>
                </a:lnTo>
                <a:lnTo>
                  <a:pt x="0" y="242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354877"/>
            <a:ext cx="4095911" cy="4095911"/>
          </a:xfrm>
          <a:custGeom>
            <a:avLst/>
            <a:gdLst/>
            <a:ahLst/>
            <a:cxnLst/>
            <a:rect r="r" b="b" t="t" l="l"/>
            <a:pathLst>
              <a:path h="4095911" w="4095911">
                <a:moveTo>
                  <a:pt x="0" y="0"/>
                </a:moveTo>
                <a:lnTo>
                  <a:pt x="4095911" y="0"/>
                </a:lnTo>
                <a:lnTo>
                  <a:pt x="4095911" y="4095911"/>
                </a:lnTo>
                <a:lnTo>
                  <a:pt x="0" y="4095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61170" y="8453513"/>
            <a:ext cx="2717344" cy="2737251"/>
          </a:xfrm>
          <a:custGeom>
            <a:avLst/>
            <a:gdLst/>
            <a:ahLst/>
            <a:cxnLst/>
            <a:rect r="r" b="b" t="t" l="l"/>
            <a:pathLst>
              <a:path h="2737251" w="2717344">
                <a:moveTo>
                  <a:pt x="0" y="0"/>
                </a:moveTo>
                <a:lnTo>
                  <a:pt x="2717344" y="0"/>
                </a:lnTo>
                <a:lnTo>
                  <a:pt x="2717344" y="2737252"/>
                </a:lnTo>
                <a:lnTo>
                  <a:pt x="0" y="2737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10024" y="0"/>
            <a:ext cx="3404247" cy="3404247"/>
          </a:xfrm>
          <a:custGeom>
            <a:avLst/>
            <a:gdLst/>
            <a:ahLst/>
            <a:cxnLst/>
            <a:rect r="r" b="b" t="t" l="l"/>
            <a:pathLst>
              <a:path h="3404247" w="3404247">
                <a:moveTo>
                  <a:pt x="0" y="0"/>
                </a:moveTo>
                <a:lnTo>
                  <a:pt x="3404247" y="0"/>
                </a:lnTo>
                <a:lnTo>
                  <a:pt x="3404247" y="3404247"/>
                </a:lnTo>
                <a:lnTo>
                  <a:pt x="0" y="340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78984" y="-358321"/>
            <a:ext cx="4939144" cy="4939144"/>
          </a:xfrm>
          <a:custGeom>
            <a:avLst/>
            <a:gdLst/>
            <a:ahLst/>
            <a:cxnLst/>
            <a:rect r="r" b="b" t="t" l="l"/>
            <a:pathLst>
              <a:path h="4939144" w="4939144">
                <a:moveTo>
                  <a:pt x="0" y="0"/>
                </a:moveTo>
                <a:lnTo>
                  <a:pt x="4939144" y="0"/>
                </a:lnTo>
                <a:lnTo>
                  <a:pt x="4939144" y="4939144"/>
                </a:lnTo>
                <a:lnTo>
                  <a:pt x="0" y="49391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63522" y="3802865"/>
            <a:ext cx="9812973" cy="203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19"/>
              </a:lnSpc>
            </a:pPr>
            <a:r>
              <a:rPr lang="en-US" sz="11942">
                <a:solidFill>
                  <a:srgbClr val="00A8A8"/>
                </a:solidFill>
                <a:latin typeface="Hussar Bold"/>
                <a:ea typeface="Hussar Bold"/>
                <a:cs typeface="Hussar Bold"/>
                <a:sym typeface="Hussar Bold"/>
              </a:rPr>
              <a:t>Thank You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76162" y="5671232"/>
            <a:ext cx="9500333" cy="319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51"/>
              </a:lnSpc>
            </a:pPr>
            <a:r>
              <a:rPr lang="en-US" sz="9179">
                <a:solidFill>
                  <a:srgbClr val="0C6980"/>
                </a:solidFill>
                <a:latin typeface="Hussar Bold"/>
                <a:ea typeface="Hussar Bold"/>
                <a:cs typeface="Hussar Bold"/>
                <a:sym typeface="Hussar Bold"/>
              </a:rPr>
              <a:t>Questions &amp; Clarifications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DAGtEJ5Kyro</dc:identifier>
  <dcterms:modified xsi:type="dcterms:W3CDTF">2011-08-01T06:04:30Z</dcterms:modified>
  <cp:revision>1</cp:revision>
  <dc:title>MedAce: A Smart Web-Based Review and Progress Tracker for Allied Health Licensure Exams</dc:title>
</cp:coreProperties>
</file>